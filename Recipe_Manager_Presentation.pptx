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ugo Classic" charset="1" panose="00000000000000000000"/>
      <p:regular r:id="rId16"/>
    </p:embeddedFont>
    <p:embeddedFont>
      <p:font typeface="Crimson Pro Bold" charset="1" panose="00000000000000000000"/>
      <p:regular r:id="rId17"/>
    </p:embeddedFont>
    <p:embeddedFont>
      <p:font typeface="Crimson Pro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2520" y="5878830"/>
            <a:ext cx="18640520" cy="6758940"/>
          </a:xfrm>
          <a:custGeom>
            <a:avLst/>
            <a:gdLst/>
            <a:ahLst/>
            <a:cxnLst/>
            <a:rect r="r" b="b" t="t" l="l"/>
            <a:pathLst>
              <a:path h="6758940" w="18640520">
                <a:moveTo>
                  <a:pt x="0" y="0"/>
                </a:moveTo>
                <a:lnTo>
                  <a:pt x="18640520" y="0"/>
                </a:lnTo>
                <a:lnTo>
                  <a:pt x="18640520" y="6758940"/>
                </a:lnTo>
                <a:lnTo>
                  <a:pt x="0" y="6758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63" r="0" b="-9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84616" y="-490898"/>
            <a:ext cx="3335307" cy="8085592"/>
          </a:xfrm>
          <a:custGeom>
            <a:avLst/>
            <a:gdLst/>
            <a:ahLst/>
            <a:cxnLst/>
            <a:rect r="r" b="b" t="t" l="l"/>
            <a:pathLst>
              <a:path h="8085592" w="3335307">
                <a:moveTo>
                  <a:pt x="0" y="0"/>
                </a:moveTo>
                <a:lnTo>
                  <a:pt x="3335307" y="0"/>
                </a:lnTo>
                <a:lnTo>
                  <a:pt x="3335307" y="8085592"/>
                </a:lnTo>
                <a:lnTo>
                  <a:pt x="0" y="808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29755" y="1929549"/>
            <a:ext cx="14228491" cy="285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5"/>
              </a:lnSpc>
            </a:pPr>
            <a:r>
              <a:rPr lang="en-US" sz="1621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3142" y="5018914"/>
            <a:ext cx="5941715" cy="88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8"/>
              </a:lnSpc>
            </a:pPr>
            <a:r>
              <a:rPr lang="en-US" sz="4970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By Younus Ahmed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299" y="-818860"/>
            <a:ext cx="1701877" cy="4125764"/>
          </a:xfrm>
          <a:custGeom>
            <a:avLst/>
            <a:gdLst/>
            <a:ahLst/>
            <a:cxnLst/>
            <a:rect r="r" b="b" t="t" l="l"/>
            <a:pathLst>
              <a:path h="4125764" w="1701877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824" y="4832136"/>
            <a:ext cx="3653151" cy="6381050"/>
          </a:xfrm>
          <a:custGeom>
            <a:avLst/>
            <a:gdLst/>
            <a:ahLst/>
            <a:cxnLst/>
            <a:rect r="r" b="b" t="t" l="l"/>
            <a:pathLst>
              <a:path h="6381050" w="3653151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37880" y="8252132"/>
            <a:ext cx="3622518" cy="3513843"/>
          </a:xfrm>
          <a:custGeom>
            <a:avLst/>
            <a:gdLst/>
            <a:ahLst/>
            <a:cxnLst/>
            <a:rect r="r" b="b" t="t" l="l"/>
            <a:pathLst>
              <a:path h="3513843" w="3622518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36143" y="3989197"/>
            <a:ext cx="6276681" cy="3369173"/>
          </a:xfrm>
          <a:custGeom>
            <a:avLst/>
            <a:gdLst/>
            <a:ahLst/>
            <a:cxnLst/>
            <a:rect r="r" b="b" t="t" l="l"/>
            <a:pathLst>
              <a:path h="3369173" w="6276681">
                <a:moveTo>
                  <a:pt x="0" y="0"/>
                </a:moveTo>
                <a:lnTo>
                  <a:pt x="6276681" y="0"/>
                </a:lnTo>
                <a:lnTo>
                  <a:pt x="6276681" y="3369173"/>
                </a:lnTo>
                <a:lnTo>
                  <a:pt x="0" y="33691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9901" y="2036596"/>
            <a:ext cx="10962704" cy="63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2"/>
              </a:lnSpc>
            </a:pPr>
            <a:r>
              <a:rPr lang="en-US" b="true" sz="3699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Title</a:t>
            </a:r>
            <a:r>
              <a:rPr lang="en-US" sz="36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: Recipe Manager Database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63515" y="204866"/>
            <a:ext cx="13049309" cy="183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48412" y="3255797"/>
            <a:ext cx="11344132" cy="100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</a:t>
            </a: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 Recipe Manager Database is a SQL-based application designed to store, manage, and retrieve cooking recipes efficiently.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226909" y="2680741"/>
            <a:ext cx="10962704" cy="64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1"/>
              </a:lnSpc>
            </a:pPr>
            <a:r>
              <a:rPr lang="en-US" b="true" sz="3799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Content: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3748" y="7486150"/>
            <a:ext cx="11344132" cy="100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</a:t>
            </a: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is project demonstrates the use of relational database concepts such as tables, relationships, constraints, triggers, and queries.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1755963" y="4271670"/>
            <a:ext cx="11344132" cy="50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b="true" sz="2900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</a:t>
            </a:r>
            <a:r>
              <a:rPr lang="en-US" b="true" sz="2900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 system helps users: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75176" y="4756648"/>
            <a:ext cx="11344132" cy="302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Stor</a:t>
            </a: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 recipes digitally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Manage ingredients and pantry items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Track cooking history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Review and rate recipes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Get meal planning support</a:t>
            </a:r>
          </a:p>
          <a:p>
            <a:pPr algn="ctr">
              <a:lnSpc>
                <a:spcPts val="403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299" y="-818860"/>
            <a:ext cx="1701877" cy="4125764"/>
          </a:xfrm>
          <a:custGeom>
            <a:avLst/>
            <a:gdLst/>
            <a:ahLst/>
            <a:cxnLst/>
            <a:rect r="r" b="b" t="t" l="l"/>
            <a:pathLst>
              <a:path h="4125764" w="1701877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34696" y="7057507"/>
            <a:ext cx="2258285" cy="3944603"/>
          </a:xfrm>
          <a:custGeom>
            <a:avLst/>
            <a:gdLst/>
            <a:ahLst/>
            <a:cxnLst/>
            <a:rect r="r" b="b" t="t" l="l"/>
            <a:pathLst>
              <a:path h="3944603" w="2258285">
                <a:moveTo>
                  <a:pt x="0" y="0"/>
                </a:moveTo>
                <a:lnTo>
                  <a:pt x="2258286" y="0"/>
                </a:lnTo>
                <a:lnTo>
                  <a:pt x="2258286" y="3944603"/>
                </a:lnTo>
                <a:lnTo>
                  <a:pt x="0" y="3944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95661" y="9171662"/>
            <a:ext cx="2239349" cy="2172168"/>
          </a:xfrm>
          <a:custGeom>
            <a:avLst/>
            <a:gdLst/>
            <a:ahLst/>
            <a:cxnLst/>
            <a:rect r="r" b="b" t="t" l="l"/>
            <a:pathLst>
              <a:path h="2172168" w="2239349">
                <a:moveTo>
                  <a:pt x="0" y="0"/>
                </a:moveTo>
                <a:lnTo>
                  <a:pt x="2239349" y="0"/>
                </a:lnTo>
                <a:lnTo>
                  <a:pt x="2239349" y="2172168"/>
                </a:lnTo>
                <a:lnTo>
                  <a:pt x="0" y="2172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5845" y="2410817"/>
            <a:ext cx="2478851" cy="4345519"/>
          </a:xfrm>
          <a:custGeom>
            <a:avLst/>
            <a:gdLst/>
            <a:ahLst/>
            <a:cxnLst/>
            <a:rect r="r" b="b" t="t" l="l"/>
            <a:pathLst>
              <a:path h="4345519" w="2478851">
                <a:moveTo>
                  <a:pt x="0" y="0"/>
                </a:moveTo>
                <a:lnTo>
                  <a:pt x="2478851" y="0"/>
                </a:lnTo>
                <a:lnTo>
                  <a:pt x="2478851" y="4345519"/>
                </a:lnTo>
                <a:lnTo>
                  <a:pt x="0" y="43455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35" t="-3387" r="-3959" b="-404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7249" y="448941"/>
            <a:ext cx="13049309" cy="182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39769" y="2492111"/>
            <a:ext cx="13747681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People usually store recipes in notebooks, screenshots, or scattered notes.</a:t>
            </a:r>
          </a:p>
          <a:p>
            <a:pPr algn="l">
              <a:lnSpc>
                <a:spcPts val="4170"/>
              </a:lnSpc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 This creates several problems: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87249" y="3597339"/>
            <a:ext cx="13747681" cy="302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Diff</a:t>
            </a: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icult to search recipes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Ingredients not tracked properly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Duplicate recipes occur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No meal planning support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Cannot track nutrition or history</a:t>
            </a:r>
          </a:p>
          <a:p>
            <a:pPr algn="l">
              <a:lnSpc>
                <a:spcPts val="403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787249" y="6689661"/>
            <a:ext cx="13747681" cy="100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B</a:t>
            </a: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uild a structured relational database that organizes recipes, ingredients, users, and cooking activities in one centralized system.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7655" y="6078664"/>
            <a:ext cx="13747681" cy="54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99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 S</a:t>
            </a:r>
            <a:r>
              <a:rPr lang="en-US" sz="3099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olution</a:t>
            </a:r>
            <a:r>
              <a:rPr lang="en-US" sz="30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20974" y="341775"/>
            <a:ext cx="13049309" cy="182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21171" y="2396974"/>
            <a:ext cx="10983349" cy="538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3806" b="true">
                <a:solidFill>
                  <a:srgbClr val="141619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Project Objectives:</a:t>
            </a:r>
          </a:p>
          <a:p>
            <a:pPr algn="l" marL="821811" indent="-410906" lvl="1">
              <a:lnSpc>
                <a:spcPts val="5329"/>
              </a:lnSpc>
              <a:buFont typeface="Arial"/>
              <a:buChar char="•"/>
            </a:pPr>
            <a:r>
              <a:rPr lang="en-US" sz="3806">
                <a:solidFill>
                  <a:srgbClr val="141619"/>
                </a:solidFill>
                <a:latin typeface="Crimson Pro"/>
                <a:ea typeface="Crimson Pro"/>
                <a:cs typeface="Crimson Pro"/>
                <a:sym typeface="Crimson Pro"/>
              </a:rPr>
              <a:t>Design a normalized relational database</a:t>
            </a:r>
          </a:p>
          <a:p>
            <a:pPr algn="l" marL="821811" indent="-410906" lvl="1">
              <a:lnSpc>
                <a:spcPts val="5329"/>
              </a:lnSpc>
              <a:buFont typeface="Arial"/>
              <a:buChar char="•"/>
            </a:pPr>
            <a:r>
              <a:rPr lang="en-US" sz="3806">
                <a:solidFill>
                  <a:srgbClr val="141619"/>
                </a:solidFill>
                <a:latin typeface="Crimson Pro"/>
                <a:ea typeface="Crimson Pro"/>
                <a:cs typeface="Crimson Pro"/>
                <a:sym typeface="Crimson Pro"/>
              </a:rPr>
              <a:t>Implement constraints (PK, FK, UNIQUE, CHECK)</a:t>
            </a:r>
          </a:p>
          <a:p>
            <a:pPr algn="l" marL="821811" indent="-410906" lvl="1">
              <a:lnSpc>
                <a:spcPts val="5329"/>
              </a:lnSpc>
              <a:buFont typeface="Arial"/>
              <a:buChar char="•"/>
            </a:pPr>
            <a:r>
              <a:rPr lang="en-US" sz="3806">
                <a:solidFill>
                  <a:srgbClr val="141619"/>
                </a:solidFill>
                <a:latin typeface="Crimson Pro"/>
                <a:ea typeface="Crimson Pro"/>
                <a:cs typeface="Crimson Pro"/>
                <a:sym typeface="Crimson Pro"/>
              </a:rPr>
              <a:t>Perform complex SQL queries</a:t>
            </a:r>
          </a:p>
          <a:p>
            <a:pPr algn="l" marL="821811" indent="-410906" lvl="1">
              <a:lnSpc>
                <a:spcPts val="5329"/>
              </a:lnSpc>
              <a:buFont typeface="Arial"/>
              <a:buChar char="•"/>
            </a:pPr>
            <a:r>
              <a:rPr lang="en-US" sz="3806">
                <a:solidFill>
                  <a:srgbClr val="141619"/>
                </a:solidFill>
                <a:latin typeface="Crimson Pro"/>
                <a:ea typeface="Crimson Pro"/>
                <a:cs typeface="Crimson Pro"/>
                <a:sym typeface="Crimson Pro"/>
              </a:rPr>
              <a:t>Automate operations using triggers</a:t>
            </a:r>
          </a:p>
          <a:p>
            <a:pPr algn="l" marL="821811" indent="-410906" lvl="1">
              <a:lnSpc>
                <a:spcPts val="5329"/>
              </a:lnSpc>
              <a:buFont typeface="Arial"/>
              <a:buChar char="•"/>
            </a:pPr>
            <a:r>
              <a:rPr lang="en-US" sz="3806">
                <a:solidFill>
                  <a:srgbClr val="141619"/>
                </a:solidFill>
                <a:latin typeface="Crimson Pro"/>
                <a:ea typeface="Crimson Pro"/>
                <a:cs typeface="Crimson Pro"/>
                <a:sym typeface="Crimson Pro"/>
              </a:rPr>
              <a:t>Maintain data integrity and security</a:t>
            </a:r>
          </a:p>
          <a:p>
            <a:pPr algn="l" marL="821811" indent="-410906" lvl="1">
              <a:lnSpc>
                <a:spcPts val="5329"/>
              </a:lnSpc>
              <a:buFont typeface="Arial"/>
              <a:buChar char="•"/>
            </a:pPr>
            <a:r>
              <a:rPr lang="en-US" sz="3806">
                <a:solidFill>
                  <a:srgbClr val="141619"/>
                </a:solidFill>
                <a:latin typeface="Crimson Pro"/>
                <a:ea typeface="Crimson Pro"/>
                <a:cs typeface="Crimson Pro"/>
                <a:sym typeface="Crimson Pro"/>
              </a:rPr>
              <a:t>Improve search and retrieval performance</a:t>
            </a:r>
          </a:p>
          <a:p>
            <a:pPr algn="l">
              <a:lnSpc>
                <a:spcPts val="532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73299" y="-818860"/>
            <a:ext cx="1701877" cy="4125764"/>
          </a:xfrm>
          <a:custGeom>
            <a:avLst/>
            <a:gdLst/>
            <a:ahLst/>
            <a:cxnLst/>
            <a:rect r="r" b="b" t="t" l="l"/>
            <a:pathLst>
              <a:path h="4125764" w="1701877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34696" y="7057507"/>
            <a:ext cx="2258285" cy="3944603"/>
          </a:xfrm>
          <a:custGeom>
            <a:avLst/>
            <a:gdLst/>
            <a:ahLst/>
            <a:cxnLst/>
            <a:rect r="r" b="b" t="t" l="l"/>
            <a:pathLst>
              <a:path h="3944603" w="2258285">
                <a:moveTo>
                  <a:pt x="0" y="0"/>
                </a:moveTo>
                <a:lnTo>
                  <a:pt x="2258286" y="0"/>
                </a:lnTo>
                <a:lnTo>
                  <a:pt x="2258286" y="3944603"/>
                </a:lnTo>
                <a:lnTo>
                  <a:pt x="0" y="3944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95661" y="9171662"/>
            <a:ext cx="2239349" cy="2172168"/>
          </a:xfrm>
          <a:custGeom>
            <a:avLst/>
            <a:gdLst/>
            <a:ahLst/>
            <a:cxnLst/>
            <a:rect r="r" b="b" t="t" l="l"/>
            <a:pathLst>
              <a:path h="2172168" w="2239349">
                <a:moveTo>
                  <a:pt x="0" y="0"/>
                </a:moveTo>
                <a:lnTo>
                  <a:pt x="2239349" y="0"/>
                </a:lnTo>
                <a:lnTo>
                  <a:pt x="2239349" y="2172168"/>
                </a:lnTo>
                <a:lnTo>
                  <a:pt x="0" y="2172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299" y="-818860"/>
            <a:ext cx="1701877" cy="4125764"/>
          </a:xfrm>
          <a:custGeom>
            <a:avLst/>
            <a:gdLst/>
            <a:ahLst/>
            <a:cxnLst/>
            <a:rect r="r" b="b" t="t" l="l"/>
            <a:pathLst>
              <a:path h="4125764" w="1701877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34696" y="7057507"/>
            <a:ext cx="2258285" cy="3944603"/>
          </a:xfrm>
          <a:custGeom>
            <a:avLst/>
            <a:gdLst/>
            <a:ahLst/>
            <a:cxnLst/>
            <a:rect r="r" b="b" t="t" l="l"/>
            <a:pathLst>
              <a:path h="3944603" w="2258285">
                <a:moveTo>
                  <a:pt x="0" y="0"/>
                </a:moveTo>
                <a:lnTo>
                  <a:pt x="2258286" y="0"/>
                </a:lnTo>
                <a:lnTo>
                  <a:pt x="2258286" y="3944603"/>
                </a:lnTo>
                <a:lnTo>
                  <a:pt x="0" y="3944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95661" y="9171662"/>
            <a:ext cx="2239349" cy="2172168"/>
          </a:xfrm>
          <a:custGeom>
            <a:avLst/>
            <a:gdLst/>
            <a:ahLst/>
            <a:cxnLst/>
            <a:rect r="r" b="b" t="t" l="l"/>
            <a:pathLst>
              <a:path h="2172168" w="2239349">
                <a:moveTo>
                  <a:pt x="0" y="0"/>
                </a:moveTo>
                <a:lnTo>
                  <a:pt x="2239349" y="0"/>
                </a:lnTo>
                <a:lnTo>
                  <a:pt x="2239349" y="2172168"/>
                </a:lnTo>
                <a:lnTo>
                  <a:pt x="0" y="2172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47125" y="2190636"/>
            <a:ext cx="4465130" cy="7900309"/>
          </a:xfrm>
          <a:custGeom>
            <a:avLst/>
            <a:gdLst/>
            <a:ahLst/>
            <a:cxnLst/>
            <a:rect r="r" b="b" t="t" l="l"/>
            <a:pathLst>
              <a:path h="7900309" w="4465130">
                <a:moveTo>
                  <a:pt x="0" y="0"/>
                </a:moveTo>
                <a:lnTo>
                  <a:pt x="4465131" y="0"/>
                </a:lnTo>
                <a:lnTo>
                  <a:pt x="4465131" y="7900309"/>
                </a:lnTo>
                <a:lnTo>
                  <a:pt x="0" y="7900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8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19345" y="362110"/>
            <a:ext cx="13049309" cy="182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ER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299" y="-818860"/>
            <a:ext cx="1701877" cy="4125764"/>
          </a:xfrm>
          <a:custGeom>
            <a:avLst/>
            <a:gdLst/>
            <a:ahLst/>
            <a:cxnLst/>
            <a:rect r="r" b="b" t="t" l="l"/>
            <a:pathLst>
              <a:path h="4125764" w="1701877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34696" y="7057507"/>
            <a:ext cx="2258285" cy="3944603"/>
          </a:xfrm>
          <a:custGeom>
            <a:avLst/>
            <a:gdLst/>
            <a:ahLst/>
            <a:cxnLst/>
            <a:rect r="r" b="b" t="t" l="l"/>
            <a:pathLst>
              <a:path h="3944603" w="2258285">
                <a:moveTo>
                  <a:pt x="0" y="0"/>
                </a:moveTo>
                <a:lnTo>
                  <a:pt x="2258286" y="0"/>
                </a:lnTo>
                <a:lnTo>
                  <a:pt x="2258286" y="3944603"/>
                </a:lnTo>
                <a:lnTo>
                  <a:pt x="0" y="3944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95661" y="9171662"/>
            <a:ext cx="2239349" cy="2172168"/>
          </a:xfrm>
          <a:custGeom>
            <a:avLst/>
            <a:gdLst/>
            <a:ahLst/>
            <a:cxnLst/>
            <a:rect r="r" b="b" t="t" l="l"/>
            <a:pathLst>
              <a:path h="2172168" w="2239349">
                <a:moveTo>
                  <a:pt x="0" y="0"/>
                </a:moveTo>
                <a:lnTo>
                  <a:pt x="2239349" y="0"/>
                </a:lnTo>
                <a:lnTo>
                  <a:pt x="2239349" y="2172168"/>
                </a:lnTo>
                <a:lnTo>
                  <a:pt x="0" y="2172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61715" y="4707463"/>
            <a:ext cx="7483278" cy="5197477"/>
          </a:xfrm>
          <a:custGeom>
            <a:avLst/>
            <a:gdLst/>
            <a:ahLst/>
            <a:cxnLst/>
            <a:rect r="r" b="b" t="t" l="l"/>
            <a:pathLst>
              <a:path h="5197477" w="7483278">
                <a:moveTo>
                  <a:pt x="0" y="0"/>
                </a:moveTo>
                <a:lnTo>
                  <a:pt x="7483278" y="0"/>
                </a:lnTo>
                <a:lnTo>
                  <a:pt x="7483278" y="5197476"/>
                </a:lnTo>
                <a:lnTo>
                  <a:pt x="0" y="5197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91699" y="205934"/>
            <a:ext cx="14615664" cy="182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How System Works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75176" y="1929685"/>
            <a:ext cx="4780266" cy="84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4889" b="true">
                <a:solidFill>
                  <a:srgbClr val="141619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System Modules: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36614" y="1929685"/>
            <a:ext cx="5154636" cy="84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4889" b="true">
                <a:solidFill>
                  <a:srgbClr val="141619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Automation Used: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5176" y="2710362"/>
            <a:ext cx="7198579" cy="252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31"/>
              </a:lnSpc>
              <a:buAutoNum type="arabicPeriod" startAt="1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U</a:t>
            </a: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ser registers and stores recipes</a:t>
            </a:r>
          </a:p>
          <a:p>
            <a:pPr algn="l" marL="626111" indent="-313055" lvl="1">
              <a:lnSpc>
                <a:spcPts val="4031"/>
              </a:lnSpc>
              <a:buAutoNum type="arabicPeriod" startAt="1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Ingredients linked to recipes</a:t>
            </a:r>
          </a:p>
          <a:p>
            <a:pPr algn="l" marL="626111" indent="-313055" lvl="1">
              <a:lnSpc>
                <a:spcPts val="4031"/>
              </a:lnSpc>
              <a:buAutoNum type="arabicPeriod" startAt="1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Pantry tracks available ingredients</a:t>
            </a:r>
          </a:p>
          <a:p>
            <a:pPr algn="l" marL="626111" indent="-313055" lvl="1">
              <a:lnSpc>
                <a:spcPts val="4031"/>
              </a:lnSpc>
              <a:buAutoNum type="arabicPeriod" startAt="1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Cooking history updated automatically</a:t>
            </a:r>
          </a:p>
          <a:p>
            <a:pPr algn="l" marL="626111" indent="-313055" lvl="1">
              <a:lnSpc>
                <a:spcPts val="4031"/>
              </a:lnSpc>
              <a:buAutoNum type="arabicPeriod" startAt="1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Meal planning supported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6614" y="2710362"/>
            <a:ext cx="7198579" cy="252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</a:t>
            </a: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riggers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Constraints</a:t>
            </a:r>
          </a:p>
          <a:p>
            <a:pPr algn="l" marL="626111" indent="-313055" lvl="1">
              <a:lnSpc>
                <a:spcPts val="403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Foreign keys</a:t>
            </a:r>
          </a:p>
          <a:p>
            <a:pPr algn="l">
              <a:lnSpc>
                <a:spcPts val="4031"/>
              </a:lnSpc>
            </a:pPr>
          </a:p>
          <a:p>
            <a:pPr algn="l">
              <a:lnSpc>
                <a:spcPts val="403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299" y="-818860"/>
            <a:ext cx="1701877" cy="4125764"/>
          </a:xfrm>
          <a:custGeom>
            <a:avLst/>
            <a:gdLst/>
            <a:ahLst/>
            <a:cxnLst/>
            <a:rect r="r" b="b" t="t" l="l"/>
            <a:pathLst>
              <a:path h="4125764" w="1701877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27215" y="2054441"/>
            <a:ext cx="5099004" cy="6264802"/>
          </a:xfrm>
          <a:custGeom>
            <a:avLst/>
            <a:gdLst/>
            <a:ahLst/>
            <a:cxnLst/>
            <a:rect r="r" b="b" t="t" l="l"/>
            <a:pathLst>
              <a:path h="6264802" w="5099004">
                <a:moveTo>
                  <a:pt x="0" y="0"/>
                </a:moveTo>
                <a:lnTo>
                  <a:pt x="5099003" y="0"/>
                </a:lnTo>
                <a:lnTo>
                  <a:pt x="5099003" y="6264802"/>
                </a:lnTo>
                <a:lnTo>
                  <a:pt x="0" y="6264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59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93030" y="205934"/>
            <a:ext cx="13431541" cy="182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SQL Queries &amp; Automation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21195" y="2423745"/>
            <a:ext cx="6422805" cy="54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99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Important</a:t>
            </a:r>
            <a:r>
              <a:rPr lang="en-US" sz="3099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Queries Implemented: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93030" y="3240229"/>
            <a:ext cx="6715771" cy="261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Recipes that can be cooked from pantry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Most popular recipes (ratings)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Vegetarian recipes &lt; 30 mins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High protein low carb recipes</a:t>
            </a:r>
          </a:p>
          <a:p>
            <a:pPr algn="l">
              <a:lnSpc>
                <a:spcPts val="417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721195" y="5543628"/>
            <a:ext cx="6422805" cy="54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99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Triggers Implemented: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93030" y="6229458"/>
            <a:ext cx="6715771" cy="208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Auto cooking history entry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Pan</a:t>
            </a: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try quantity update after cooking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Exp</a:t>
            </a: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iry alert for ingredients</a:t>
            </a:r>
          </a:p>
          <a:p>
            <a:pPr algn="l">
              <a:lnSpc>
                <a:spcPts val="417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5176" y="1478378"/>
            <a:ext cx="13049309" cy="182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Advantages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7655" y="4086790"/>
            <a:ext cx="13747681" cy="43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430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Cent</a:t>
            </a:r>
            <a:r>
              <a:rPr lang="en-US" sz="30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ralized recipe management</a:t>
            </a:r>
          </a:p>
          <a:p>
            <a:pPr algn="l" marL="669289" indent="-334645" lvl="1">
              <a:lnSpc>
                <a:spcPts val="430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Avoids duplicate recipes</a:t>
            </a:r>
          </a:p>
          <a:p>
            <a:pPr algn="l" marL="669289" indent="-334645" lvl="1">
              <a:lnSpc>
                <a:spcPts val="430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Tracks nutrition values</a:t>
            </a:r>
          </a:p>
          <a:p>
            <a:pPr algn="l" marL="669289" indent="-334645" lvl="1">
              <a:lnSpc>
                <a:spcPts val="430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Smart ingredient tracking</a:t>
            </a:r>
          </a:p>
          <a:p>
            <a:pPr algn="l" marL="669289" indent="-334645" lvl="1">
              <a:lnSpc>
                <a:spcPts val="430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Automatic updates using triggers</a:t>
            </a:r>
          </a:p>
          <a:p>
            <a:pPr algn="l" marL="669289" indent="-334645" lvl="1">
              <a:lnSpc>
                <a:spcPts val="430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Improves searching speed</a:t>
            </a:r>
          </a:p>
          <a:p>
            <a:pPr algn="l" marL="669289" indent="-334645" lvl="1">
              <a:lnSpc>
                <a:spcPts val="4308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Supports meal planning</a:t>
            </a:r>
          </a:p>
          <a:p>
            <a:pPr algn="l">
              <a:lnSpc>
                <a:spcPts val="430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73299" y="-818860"/>
            <a:ext cx="1701877" cy="4125764"/>
          </a:xfrm>
          <a:custGeom>
            <a:avLst/>
            <a:gdLst/>
            <a:ahLst/>
            <a:cxnLst/>
            <a:rect r="r" b="b" t="t" l="l"/>
            <a:pathLst>
              <a:path h="4125764" w="1701877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34696" y="7057507"/>
            <a:ext cx="2258285" cy="3944603"/>
          </a:xfrm>
          <a:custGeom>
            <a:avLst/>
            <a:gdLst/>
            <a:ahLst/>
            <a:cxnLst/>
            <a:rect r="r" b="b" t="t" l="l"/>
            <a:pathLst>
              <a:path h="3944603" w="2258285">
                <a:moveTo>
                  <a:pt x="0" y="0"/>
                </a:moveTo>
                <a:lnTo>
                  <a:pt x="2258286" y="0"/>
                </a:lnTo>
                <a:lnTo>
                  <a:pt x="2258286" y="3944603"/>
                </a:lnTo>
                <a:lnTo>
                  <a:pt x="0" y="3944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95661" y="9171662"/>
            <a:ext cx="2239349" cy="2172168"/>
          </a:xfrm>
          <a:custGeom>
            <a:avLst/>
            <a:gdLst/>
            <a:ahLst/>
            <a:cxnLst/>
            <a:rect r="r" b="b" t="t" l="l"/>
            <a:pathLst>
              <a:path h="2172168" w="2239349">
                <a:moveTo>
                  <a:pt x="0" y="0"/>
                </a:moveTo>
                <a:lnTo>
                  <a:pt x="2239349" y="0"/>
                </a:lnTo>
                <a:lnTo>
                  <a:pt x="2239349" y="2172168"/>
                </a:lnTo>
                <a:lnTo>
                  <a:pt x="0" y="2172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9345" y="539745"/>
            <a:ext cx="13049309" cy="183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Conclusion &amp; 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82119" y="2821640"/>
            <a:ext cx="13323762" cy="48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2784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Conclusion: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22504" y="3733786"/>
            <a:ext cx="13323762" cy="224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966" indent="-278983" lvl="1">
              <a:lnSpc>
                <a:spcPts val="359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R</a:t>
            </a: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elational database design</a:t>
            </a:r>
          </a:p>
          <a:p>
            <a:pPr algn="l" marL="557966" indent="-278983" lvl="1">
              <a:lnSpc>
                <a:spcPts val="359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SQL querying</a:t>
            </a:r>
          </a:p>
          <a:p>
            <a:pPr algn="l" marL="557966" indent="-278983" lvl="1">
              <a:lnSpc>
                <a:spcPts val="359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Constraints and relationships</a:t>
            </a:r>
          </a:p>
          <a:p>
            <a:pPr algn="l" marL="557966" indent="-278983" lvl="1">
              <a:lnSpc>
                <a:spcPts val="359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Automation using triggers</a:t>
            </a:r>
          </a:p>
          <a:p>
            <a:pPr algn="l">
              <a:lnSpc>
                <a:spcPts val="359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91574" y="6428911"/>
            <a:ext cx="13323762" cy="224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966" indent="-278983" lvl="1">
              <a:lnSpc>
                <a:spcPts val="359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M</a:t>
            </a: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obile application integration</a:t>
            </a:r>
          </a:p>
          <a:p>
            <a:pPr algn="l" marL="557966" indent="-278983" lvl="1">
              <a:lnSpc>
                <a:spcPts val="359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Recipe recommendation system</a:t>
            </a:r>
          </a:p>
          <a:p>
            <a:pPr algn="l" marL="557966" indent="-278983" lvl="1">
              <a:lnSpc>
                <a:spcPts val="359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AI-based diet planner</a:t>
            </a:r>
          </a:p>
          <a:p>
            <a:pPr algn="l" marL="557966" indent="-278983" lvl="1">
              <a:lnSpc>
                <a:spcPts val="359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Online sharing platform</a:t>
            </a:r>
          </a:p>
          <a:p>
            <a:pPr algn="l">
              <a:lnSpc>
                <a:spcPts val="3592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73299" y="-818860"/>
            <a:ext cx="1701877" cy="4125764"/>
          </a:xfrm>
          <a:custGeom>
            <a:avLst/>
            <a:gdLst/>
            <a:ahLst/>
            <a:cxnLst/>
            <a:rect r="r" b="b" t="t" l="l"/>
            <a:pathLst>
              <a:path h="4125764" w="1701877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34696" y="7057507"/>
            <a:ext cx="2258285" cy="3944603"/>
          </a:xfrm>
          <a:custGeom>
            <a:avLst/>
            <a:gdLst/>
            <a:ahLst/>
            <a:cxnLst/>
            <a:rect r="r" b="b" t="t" l="l"/>
            <a:pathLst>
              <a:path h="3944603" w="2258285">
                <a:moveTo>
                  <a:pt x="0" y="0"/>
                </a:moveTo>
                <a:lnTo>
                  <a:pt x="2258286" y="0"/>
                </a:lnTo>
                <a:lnTo>
                  <a:pt x="2258286" y="3944603"/>
                </a:lnTo>
                <a:lnTo>
                  <a:pt x="0" y="3944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95661" y="9171662"/>
            <a:ext cx="2239349" cy="2172168"/>
          </a:xfrm>
          <a:custGeom>
            <a:avLst/>
            <a:gdLst/>
            <a:ahLst/>
            <a:cxnLst/>
            <a:rect r="r" b="b" t="t" l="l"/>
            <a:pathLst>
              <a:path h="2172168" w="2239349">
                <a:moveTo>
                  <a:pt x="0" y="0"/>
                </a:moveTo>
                <a:lnTo>
                  <a:pt x="2239349" y="0"/>
                </a:lnTo>
                <a:lnTo>
                  <a:pt x="2239349" y="2172168"/>
                </a:lnTo>
                <a:lnTo>
                  <a:pt x="0" y="2172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91574" y="3259279"/>
            <a:ext cx="13323762" cy="43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584" u="sng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</a:t>
            </a:r>
            <a:r>
              <a:rPr lang="en-US" sz="2584" u="sng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 Recipe Manager Database successfully demonstrates: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4893" y="5699537"/>
            <a:ext cx="13323762" cy="48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2784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Future Improvements: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10927" y="1445946"/>
            <a:ext cx="13266145" cy="369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97"/>
              </a:lnSpc>
            </a:pPr>
            <a:r>
              <a:rPr lang="en-US" sz="20927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Thank You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52520" y="5878830"/>
            <a:ext cx="18640520" cy="6758940"/>
          </a:xfrm>
          <a:custGeom>
            <a:avLst/>
            <a:gdLst/>
            <a:ahLst/>
            <a:cxnLst/>
            <a:rect r="r" b="b" t="t" l="l"/>
            <a:pathLst>
              <a:path h="6758940" w="18640520">
                <a:moveTo>
                  <a:pt x="0" y="0"/>
                </a:moveTo>
                <a:lnTo>
                  <a:pt x="18640520" y="0"/>
                </a:lnTo>
                <a:lnTo>
                  <a:pt x="18640520" y="6758940"/>
                </a:lnTo>
                <a:lnTo>
                  <a:pt x="0" y="6758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63" r="0" b="-9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84616" y="-490898"/>
            <a:ext cx="3335307" cy="8085592"/>
          </a:xfrm>
          <a:custGeom>
            <a:avLst/>
            <a:gdLst/>
            <a:ahLst/>
            <a:cxnLst/>
            <a:rect r="r" b="b" t="t" l="l"/>
            <a:pathLst>
              <a:path h="8085592" w="3335307">
                <a:moveTo>
                  <a:pt x="0" y="0"/>
                </a:moveTo>
                <a:lnTo>
                  <a:pt x="3335307" y="0"/>
                </a:lnTo>
                <a:lnTo>
                  <a:pt x="3335307" y="8085592"/>
                </a:lnTo>
                <a:lnTo>
                  <a:pt x="0" y="808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DAHBpYbgjd8</dc:identifier>
  <dcterms:modified xsi:type="dcterms:W3CDTF">2011-08-01T06:04:30Z</dcterms:modified>
  <cp:revision>1</cp:revision>
  <dc:title>Brown and Black Modern Watercolor Presentation</dc:title>
</cp:coreProperties>
</file>